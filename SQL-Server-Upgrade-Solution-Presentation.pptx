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Server 2022 Upgrade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Side-by-Side Instance Migration with Enhanced Backup/Restore Options</a:t>
            </a:r>
          </a:p>
          <a:p/>
          <a:p>
            <a:r>
              <a:t>Presented to: Database Administration Team</a:t>
            </a:r>
          </a:p>
          <a:p>
            <a:r>
              <a:t>Solution: Comprehensive PowerShell Migration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SQL Server Instance Migration Solution</a:t>
            </a:r>
          </a:p>
          <a:p/>
          <a:p>
            <a:r>
              <a:t>Key Benefits:</a:t>
            </a:r>
          </a:p>
          <a:p>
            <a:r>
              <a:t>• Zero Downtime - Side-by-side upgrade approach</a:t>
            </a:r>
          </a:p>
          <a:p>
            <a:r>
              <a:t>• Comprehensive Migration - Databases + Server Objects</a:t>
            </a:r>
          </a:p>
          <a:p>
            <a:r>
              <a:t>• Multiple Migration Methods - Direct, Backup/Restore, Detach/Attach</a:t>
            </a:r>
          </a:p>
          <a:p>
            <a:r>
              <a:t>• Flexible Backup Options - New backups or existing backup chains</a:t>
            </a:r>
          </a:p>
          <a:p>
            <a:r>
              <a:t>• Production Ready - Tested, validated, and documented</a:t>
            </a:r>
          </a:p>
          <a:p>
            <a:r>
              <a:t>• Risk Mitigation - WhatIf mode and comprehensive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PowerShell Solution</a:t>
            </a:r>
          </a:p>
          <a:p/>
          <a:p>
            <a:r>
              <a:t>6 Specialized Modules:</a:t>
            </a:r>
          </a:p>
          <a:p>
            <a:r>
              <a:t>1. SQLUpgrade.Logging - Comprehensive logging and event tracking</a:t>
            </a:r>
          </a:p>
          <a:p>
            <a:r>
              <a:t>2. SQLUpgrade.Connection - Robust connection management</a:t>
            </a:r>
          </a:p>
          <a:p>
            <a:r>
              <a:t>3. SQLUpgrade.Database - Database discovery and validation</a:t>
            </a:r>
          </a:p>
          <a:p>
            <a:r>
              <a:t>4. SQLUpgrade.Encryption - TDE and encryption support</a:t>
            </a:r>
          </a:p>
          <a:p>
            <a:r>
              <a:t>5. SQLUpgrade.Migration - Core migration functionality</a:t>
            </a:r>
          </a:p>
          <a:p>
            <a:r>
              <a:t>6. SQLUpgrade.PostUpgrade - Post-migration tasks and validation</a:t>
            </a:r>
          </a:p>
          <a:p/>
          <a:p>
            <a:r>
              <a:t>Main Orchestrator: Start-SQLServerUpgrade.ps1</a:t>
            </a:r>
          </a:p>
          <a:p>
            <a:r>
              <a:t>• Zero function definitions (calls modules only)</a:t>
            </a:r>
          </a:p>
          <a:p>
            <a:r>
              <a:t>• Follows dbatools design patterns</a:t>
            </a:r>
          </a:p>
          <a:p>
            <a:r>
              <a:t>• Enterprise-grade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Flexible Approaches</a:t>
            </a:r>
          </a:p>
          <a:p/>
          <a:p>
            <a:r>
              <a:t>1. Direct Method (Default)</a:t>
            </a:r>
          </a:p>
          <a:p>
            <a:r>
              <a:t>   • Uses Copy-DbaDatabase with automatic fallback</a:t>
            </a:r>
          </a:p>
          <a:p>
            <a:r>
              <a:t>   • Best for most scenarios</a:t>
            </a:r>
          </a:p>
          <a:p>
            <a:r>
              <a:t>   • Handles complex objects automatically</a:t>
            </a:r>
          </a:p>
          <a:p/>
          <a:p>
            <a:r>
              <a:t>2. Backup/Restore Method</a:t>
            </a:r>
          </a:p>
          <a:p>
            <a:r>
              <a:t>   • New Backups: Creates fresh full backup and restores</a:t>
            </a:r>
          </a:p>
          <a:p>
            <a:r>
              <a:t>   • Existing Backups: Uses existing full + differential + log backup chains</a:t>
            </a:r>
          </a:p>
          <a:p>
            <a:r>
              <a:t>   • Perfect for large databases or specific backup strategies</a:t>
            </a:r>
          </a:p>
          <a:p/>
          <a:p>
            <a:r>
              <a:t>3. Detach/Attach Method</a:t>
            </a:r>
          </a:p>
          <a:p>
            <a:r>
              <a:t>   • File-level database migration</a:t>
            </a:r>
          </a:p>
          <a:p>
            <a:r>
              <a:t>   • Fastest for very large databases</a:t>
            </a:r>
          </a:p>
          <a:p>
            <a:r>
              <a:t>   • Requires careful file path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Backup/Restore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Backup Chain Support</a:t>
            </a:r>
          </a:p>
          <a:p/>
          <a:p>
            <a:r>
              <a:t>New Backup Creation:</a:t>
            </a:r>
          </a:p>
          <a:p>
            <a:r>
              <a:t>-MigrationMethod BackupRestore -BackupPath "C:\Backups"</a:t>
            </a:r>
          </a:p>
          <a:p/>
          <a:p>
            <a:r>
              <a:t>Existing Backup Chain:</a:t>
            </a:r>
          </a:p>
          <a:p>
            <a:r>
              <a:t>-MigrationMethod BackupRestore -UseExistingBackups </a:t>
            </a:r>
          </a:p>
          <a:p>
            <a:r>
              <a:t>-FullBackupPath "C:\Backups\DB_Full.bak"</a:t>
            </a:r>
          </a:p>
          <a:p>
            <a:r>
              <a:t>-DifferentialBackupPath "C:\Backups\DB_Diff.bak" </a:t>
            </a:r>
          </a:p>
          <a:p>
            <a:r>
              <a:t>-LogBackupPaths @("C:\Backups\DB_Log1.trn", "C:\Backups\DB_Log2.trn")</a:t>
            </a:r>
          </a:p>
          <a:p/>
          <a:p>
            <a:r>
              <a:t>Benefits:</a:t>
            </a:r>
          </a:p>
          <a:p>
            <a:r>
              <a:t>• Leverage existing backup strategies</a:t>
            </a:r>
          </a:p>
          <a:p>
            <a:r>
              <a:t>• Point-in-time recovery capability</a:t>
            </a:r>
          </a:p>
          <a:p>
            <a:r>
              <a:t>• Minimal storage requirements</a:t>
            </a:r>
          </a:p>
          <a:p>
            <a:r>
              <a:t>• Integration with backup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Object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Instance Migration</a:t>
            </a:r>
          </a:p>
          <a:p/>
          <a:p>
            <a:r>
              <a:t>11 Configurable Server Object Types:</a:t>
            </a:r>
          </a:p>
          <a:p>
            <a:r>
              <a:t>• SQL Server Logins (excluding system)</a:t>
            </a:r>
          </a:p>
          <a:p>
            <a:r>
              <a:t>• SQL Server Agent Jobs</a:t>
            </a:r>
          </a:p>
          <a:p>
            <a:r>
              <a:t>• Linked Servers</a:t>
            </a:r>
          </a:p>
          <a:p>
            <a:r>
              <a:t>• Server-level Triggers</a:t>
            </a:r>
          </a:p>
          <a:p>
            <a:r>
              <a:t>• Custom Server Roles</a:t>
            </a:r>
          </a:p>
          <a:p>
            <a:r>
              <a:t>• Credentials</a:t>
            </a:r>
          </a:p>
          <a:p>
            <a:r>
              <a:t>• Proxy Accounts</a:t>
            </a:r>
          </a:p>
          <a:p>
            <a:r>
              <a:t>• Alerts and Operators</a:t>
            </a:r>
          </a:p>
          <a:p>
            <a:r>
              <a:t>• Backup Devices</a:t>
            </a:r>
          </a:p>
          <a:p>
            <a:r>
              <a:t>• Server Configuration Settings</a:t>
            </a:r>
          </a:p>
          <a:p/>
          <a:p>
            <a:r>
              <a:t>Flexible Selection:</a:t>
            </a:r>
          </a:p>
          <a:p>
            <a:r>
              <a:t>• Individual switches: -IncludeLogins -IncludeJobs</a:t>
            </a:r>
          </a:p>
          <a:p>
            <a:r>
              <a:t>• All objects: -IncludeAllServerObjects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Script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Execution Capability</a:t>
            </a:r>
          </a:p>
          <a:p/>
          <a:p>
            <a:r>
              <a:t>Generate SQL Scripts for Later Execution:</a:t>
            </a:r>
          </a:p>
          <a:p>
            <a:r>
              <a:t>-OutputFile "C:\Scripts\Migration_Script.sql"</a:t>
            </a:r>
          </a:p>
          <a:p/>
          <a:p>
            <a:r>
              <a:t>Generated Scripts Include:</a:t>
            </a:r>
          </a:p>
          <a:p>
            <a:r>
              <a:t>• Database backup/restore commands</a:t>
            </a:r>
          </a:p>
          <a:p>
            <a:r>
              <a:t>• Server object creation scripts</a:t>
            </a:r>
          </a:p>
          <a:p>
            <a:r>
              <a:t>• Post-migration tasks (compatibility, statistics, indexes)</a:t>
            </a:r>
          </a:p>
          <a:p>
            <a:r>
              <a:t>• DBCC CHECKDB validation</a:t>
            </a:r>
          </a:p>
          <a:p>
            <a:r>
              <a:t>• Comprehensive documentation and comments</a:t>
            </a:r>
          </a:p>
          <a:p/>
          <a:p>
            <a:r>
              <a:t>Use Cases:</a:t>
            </a:r>
          </a:p>
          <a:p>
            <a:r>
              <a:t>• Change management approval processes</a:t>
            </a:r>
          </a:p>
          <a:p>
            <a:r>
              <a:t>• Scheduled maintenance windows</a:t>
            </a:r>
          </a:p>
          <a:p>
            <a:r>
              <a:t>• Audit trail requirements</a:t>
            </a:r>
          </a:p>
          <a:p>
            <a:r>
              <a:t>• Manual review and customization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Validation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Risk Management</a:t>
            </a:r>
          </a:p>
          <a:p/>
          <a:p>
            <a:r>
              <a:t>WhatIf Mode:</a:t>
            </a:r>
          </a:p>
          <a:p>
            <a:r>
              <a:t>• Preview all operations without changes</a:t>
            </a:r>
          </a:p>
          <a:p>
            <a:r>
              <a:t>• Validate connections and compatibility</a:t>
            </a:r>
          </a:p>
          <a:p>
            <a:r>
              <a:t>• Estimate migration scope and time</a:t>
            </a:r>
          </a:p>
          <a:p>
            <a:r>
              <a:t>• Perfect for planning and approval</a:t>
            </a:r>
          </a:p>
          <a:p/>
          <a:p>
            <a:r>
              <a:t>Idempotent Operations:</a:t>
            </a:r>
          </a:p>
          <a:p>
            <a:r>
              <a:t>• Safe to run multiple times</a:t>
            </a:r>
          </a:p>
          <a:p>
            <a:r>
              <a:t>• Skips existing objects automatically</a:t>
            </a:r>
          </a:p>
          <a:p>
            <a:r>
              <a:t>• No data loss or corruption risk</a:t>
            </a:r>
          </a:p>
          <a:p/>
          <a:p>
            <a:r>
              <a:t>Never Drops Objects:</a:t>
            </a:r>
          </a:p>
          <a:p>
            <a:r>
              <a:t>• Only creates and migrates</a:t>
            </a:r>
          </a:p>
          <a:p>
            <a:r>
              <a:t>• Preserves existing target data</a:t>
            </a:r>
          </a:p>
          <a:p>
            <a:r>
              <a:t>• Additive approach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Production-Ready Quality Assurance</a:t>
            </a:r>
          </a:p>
          <a:p/>
          <a:p>
            <a:r>
              <a:t>Comprehensive Test Suite:</a:t>
            </a:r>
          </a:p>
          <a:p>
            <a:r>
              <a:t>• 61 Pester Tests - 100% pass rate</a:t>
            </a:r>
          </a:p>
          <a:p>
            <a:r>
              <a:t>• Unit Tests - Individual module validation</a:t>
            </a:r>
          </a:p>
          <a:p>
            <a:r>
              <a:t>• Integration Tests - End-to-end workflow testing</a:t>
            </a:r>
          </a:p>
          <a:p>
            <a:r>
              <a:t>• Container Testing - Real SQL Server migration validation</a:t>
            </a:r>
          </a:p>
          <a:p/>
          <a:p>
            <a:r>
              <a:t>Test Coverage:</a:t>
            </a:r>
          </a:p>
          <a:p>
            <a:r>
              <a:t>• Module imports and function exports</a:t>
            </a:r>
          </a:p>
          <a:p>
            <a:r>
              <a:t>• Parameter validation and error handling</a:t>
            </a:r>
          </a:p>
          <a:p>
            <a:r>
              <a:t>• Connection management and security</a:t>
            </a:r>
          </a:p>
          <a:p>
            <a:r>
              <a:t>• Migration methods and backup/restore</a:t>
            </a:r>
          </a:p>
          <a:p>
            <a:r>
              <a:t>• WhatIf functionality and logging</a:t>
            </a:r>
          </a:p>
          <a:p/>
          <a:p>
            <a:r>
              <a:t>Quality Metrics:</a:t>
            </a:r>
          </a:p>
          <a:p>
            <a:r>
              <a:t>• Zero function definitions in main script</a:t>
            </a:r>
          </a:p>
          <a:p>
            <a:r>
              <a:t>• PowerShell best practices compliance</a:t>
            </a:r>
          </a:p>
          <a:p>
            <a:r>
              <a:t>• Security validation (no hardcoded credentials)</a:t>
            </a:r>
          </a:p>
          <a:p>
            <a:r>
              <a:t>• Documentation completeness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Scenarios</a:t>
            </a:r>
          </a:p>
          <a:p/>
          <a:p>
            <a:r>
              <a:t>Complete Instance Migration:</a:t>
            </a:r>
          </a:p>
          <a:p>
            <a:r>
              <a:t>.\Start-SQLServerUpgrade.ps1 </a:t>
            </a:r>
          </a:p>
          <a:p>
            <a:r>
              <a:t>  -SourceInstance "SQL2019\PROD" </a:t>
            </a:r>
          </a:p>
          <a:p>
            <a:r>
              <a:t>  -TargetInstance "SQL2022\PROD" </a:t>
            </a:r>
          </a:p>
          <a:p>
            <a:r>
              <a:t>  -Databases "All" </a:t>
            </a:r>
          </a:p>
          <a:p>
            <a:r>
              <a:t>  -IncludeAllServerObjects</a:t>
            </a:r>
          </a:p>
          <a:p/>
          <a:p>
            <a:r>
              <a:t>Selective Database Migration with Existing Backups:</a:t>
            </a:r>
          </a:p>
          <a:p>
            <a:r>
              <a:t>.\Start-SQLServerUpgrade.ps1 </a:t>
            </a:r>
          </a:p>
          <a:p>
            <a:r>
              <a:t>  -SourceInstance "SQL2019\PROD" </a:t>
            </a:r>
          </a:p>
          <a:p>
            <a:r>
              <a:t>  -TargetInstance "SQL2022\PROD" </a:t>
            </a:r>
          </a:p>
          <a:p>
            <a:r>
              <a:t>  -Databases @("CriticalDB", "ReportsDB") </a:t>
            </a:r>
          </a:p>
          <a:p>
            <a:r>
              <a:t>  -MigrationMethod BackupRestore </a:t>
            </a:r>
          </a:p>
          <a:p>
            <a:r>
              <a:t>  -UseExistingBackups </a:t>
            </a:r>
          </a:p>
          <a:p>
            <a:r>
              <a:t>  -FullBackupPath "\\BackupServer\CriticalDB_Full.bak"</a:t>
            </a:r>
          </a:p>
          <a:p/>
          <a:p>
            <a:r>
              <a:t>Generate SQL Script for Later Execution:</a:t>
            </a:r>
          </a:p>
          <a:p>
            <a:r>
              <a:t>.\Start-SQLServerUpgrade.ps1 -OutputFile "Migration.sql" -WhatIf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Strategy</a:t>
            </a:r>
          </a:p>
          <a:p/>
          <a:p>
            <a:r>
              <a:t>Phase 1: Preparation (Week 1)</a:t>
            </a:r>
          </a:p>
          <a:p>
            <a:r>
              <a:t>• Install PowerShell 7+ and dbatools module</a:t>
            </a:r>
          </a:p>
          <a:p>
            <a:r>
              <a:t>• Review and customize configuration parameters</a:t>
            </a:r>
          </a:p>
          <a:p>
            <a:r>
              <a:t>• Test connectivity to source and target instances</a:t>
            </a:r>
          </a:p>
          <a:p>
            <a:r>
              <a:t>• Run WhatIf mode for migration planning</a:t>
            </a:r>
          </a:p>
          <a:p/>
          <a:p>
            <a:r>
              <a:t>Phase 2: Pilot Testing (Week 2)</a:t>
            </a:r>
          </a:p>
          <a:p>
            <a:r>
              <a:t>• Select non-critical databases for pilot migration</a:t>
            </a:r>
          </a:p>
          <a:p>
            <a:r>
              <a:t>• Execute migrations in test environment</a:t>
            </a:r>
          </a:p>
          <a:p>
            <a:r>
              <a:t>• Validate results and performance</a:t>
            </a:r>
          </a:p>
          <a:p>
            <a:r>
              <a:t>• Refine procedures based on findings</a:t>
            </a:r>
          </a:p>
          <a:p/>
          <a:p>
            <a:r>
              <a:t>Phase 3: Production Migration (Week 3-4)</a:t>
            </a:r>
          </a:p>
          <a:p>
            <a:r>
              <a:t>• Schedule maintenance windows</a:t>
            </a:r>
          </a:p>
          <a:p>
            <a:r>
              <a:t>• Execute production migrations</a:t>
            </a:r>
          </a:p>
          <a:p>
            <a:r>
              <a:t>• Monitor and validate results</a:t>
            </a:r>
          </a:p>
          <a:p>
            <a:r>
              <a:t>• Document lessons learned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for Implementation</a:t>
            </a:r>
          </a:p>
          <a:p/>
          <a:p>
            <a:r>
              <a:t>Solution Benefits Recap:</a:t>
            </a:r>
          </a:p>
          <a:p>
            <a:r>
              <a:t>• Complete Instance Migration - Databases + Server Objects</a:t>
            </a:r>
          </a:p>
          <a:p>
            <a:r>
              <a:t>• Multiple Migration Methods - Flexible approach selection</a:t>
            </a:r>
          </a:p>
          <a:p>
            <a:r>
              <a:t>• Enhanced Backup/Restore - Existing backup chain support</a:t>
            </a:r>
          </a:p>
          <a:p>
            <a:r>
              <a:t>• SQL Script Generation - Offline execution capability</a:t>
            </a:r>
          </a:p>
          <a:p>
            <a:r>
              <a:t>• Enterprise Safety Features - WhatIf, logging, validation</a:t>
            </a:r>
          </a:p>
          <a:p>
            <a:r>
              <a:t>• Production Tested - 100% test pass rate</a:t>
            </a:r>
          </a:p>
          <a:p/>
          <a:p>
            <a:r>
              <a:t>Repository Location:</a:t>
            </a:r>
          </a:p>
          <a:p>
            <a:r>
              <a:t>• GitHub: karim-attaleb/sql-server-instance-upgrade</a:t>
            </a:r>
          </a:p>
          <a:p>
            <a:r>
              <a:t>• Branch: sql-server-upgrade-solution</a:t>
            </a:r>
          </a:p>
          <a:p>
            <a:r>
              <a:t>• Documentation: Complete README and usage examples</a:t>
            </a:r>
          </a:p>
          <a:p/>
          <a:p>
            <a:r>
              <a:t>Questions?</a:t>
            </a:r>
          </a:p>
          <a:p>
            <a:r>
              <a:t>• Technical implementation details</a:t>
            </a:r>
          </a:p>
          <a:p>
            <a:r>
              <a:t>• Specific migration scenarios</a:t>
            </a:r>
          </a:p>
          <a:p>
            <a:r>
              <a:t>• Timeline and resource planning</a:t>
            </a:r>
          </a:p>
          <a:p>
            <a:r>
              <a:t>• Training and knowledge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